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TECHNOLOGICAL INSTITUTE OF THE PHILIPPINES • COLLEGE OF COMPUTER STUDIES • IT 021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146304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THE OPENING REALITY: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"How a ₱5 printed sticker can drain your e-wallet in under 3 seconds."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TapTignan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 Pre-Payment Verification and Reporting Interface for Filipino Mobile Wallet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10332720" cy="1554480"/>
          </a:xfrm>
          <a:prstGeom prst="rect">
            <a:avLst/>
          </a:prstGeom>
          <a:solidFill>
            <a:srgbClr val="0F1E32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SUBMITTED BY: Group 7 (BSIT - IT31S4)  |  INSTRUCTOR: Allan A. Burgos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Mike Angelo Salamat (Project Lead &amp; Prototype Developer)      • Adrian Carlo Quiambao (Technical &amp; Prototype Lead)</a:t>
            </a:r>
            <a:br/>
            <a:r>
              <a:t>• Francheska Ann Nicole Rabanzo (Security &amp; Docs Lead)          • Marwan Bherooze Sabino (Docs &amp; Security Design)</a:t>
            </a:r>
            <a:br/>
            <a:r>
              <a:t>• Joana Marie Sostea (User &amp; Usability Analyst)</a:t>
            </a:r>
          </a:p>
        </p:txBody>
      </p:sp>
      <p:pic>
        <p:nvPicPr>
          <p:cNvPr id="7" name="Picture 6" descr="taptignan-inspect-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92608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5CEE"/>
                </a:solidFill>
              </a:defRPr>
            </a:pPr>
            <a:r>
              <a:t>IT 021 - USABLE SECURITY | GROUP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Real-World Threat: The QR 'Quishing' Epidemic in the Philippines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T-01: QUISHING STICKERS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Physical Scam Overlays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Attackers print counterfeit QR stickers and paste them over legitimate merchant counter stands at food stalls, MRT stations, and parking kiosks.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Impact: The victim thinks they paid the cashier, but their money went straight to an attacker's disposable wallet.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28416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T-03: MERCHANT SPOOFING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Deceptive Display Names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The physical poster says 'Cafe Manila', but the QR code resolves to an unrelated individual GCash account ('Juan Dela Cruz').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Impact: Mobile wallets display only nominal text without verifying against registered corporate business directories.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146304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28416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005CEE"/>
                </a:solidFill>
              </a:defRPr>
            </a:pPr>
            <a:r>
              <a:t>THE ZERO-FRICTION DILEMMA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Instant &amp; Irreversible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Mobile wallets prioritize speed. Zero friction means zero inspection. Transactions complete in 3 seconds with no safety gate.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Impact: Once a user confirms, funds cannot be recalled, leaving victims with zero recourse and total balance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1584" y="1463040"/>
            <a:ext cx="3328416" cy="109728"/>
          </a:xfrm>
          <a:prstGeom prst="rect">
            <a:avLst/>
          </a:prstGeom>
          <a:solidFill>
            <a:srgbClr val="005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005CEE"/>
                </a:solidFill>
              </a:defRPr>
            </a:pPr>
            <a:r>
              <a:t>CORE RESEARCH PRINCIPLE: User Problem → Security Risk → Usability Issue → Design Requirement → Prototype →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5CEE"/>
                </a:solidFill>
              </a:defRPr>
            </a:pPr>
            <a:r>
              <a:t>IT 021 - USABLE SECURITY | GROUP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Comparative Evaluation: Standard GCash vs. GCash + TapTignan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023360"/>
                <a:gridCol w="4389120"/>
              </a:tblGrid>
              <a:tr h="70539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SECURITY INTERACTION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STANDARD GCASH (BASELINE)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GCASH + TAPTIGNAN (REDESIGN)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QR Scanning Guidance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❌ Plain camera viewfinder; no alignment guidance, framing cues, or contextual security alerts.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✅ Active TapTignan alignment frame, dynamic hint text, camera permission guidance, and quick scenario testing.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Pre-Payment Verification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❌ Bypassed completely. Proceeds straight from scan to payment confirmation with zero security gate.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✅ Mandatory Pre-Payment Gate (FR-05). Automated 6-rule engine evaluates QR before funds can move.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Merchant Identity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❌ Displays nominal unverified text; vulnerable if scammer labels their personal account as 'Cafe Manila'.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✅ Validates accountId against verified business registry; detects and flags impersonation and mismatches instantly.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Micro-Merchants / Sari-Sari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❌ No distinction between corporate and personal wallets; leaves buyers confused or unguided.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✅ 3-Tier Calibrated Verdict (D-3). Recognizes micro-merchants without warning fatigue; injects verbal confirmation prompt.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Suspicious Transaction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❌ Zero risk flags. If a code is malicious, money is transferred irreversibly without friction.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✅ High-Risk Red Verdict (FR-07, FR-10). Plain-language finding explanations, 1-tap Cancel (safe exit), and 2-step override.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Community Reporting &amp; Blacklist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❌ Buried multi-step support ticket form; slow, tedious, and often abandoned by users (DF-02).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✅ Frictionless 4-Click Reporting (FR-13). Predefined categories, instant Reference ID, and real-time local blacklisting.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5CEE"/>
                </a:solidFill>
              </a:defRPr>
            </a:pPr>
            <a:r>
              <a:t>IT 021 - USABLE SECURITY | GROUP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Innovation: The 3-Tier Calibrated Verdict (Decision D-3)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SAFE VERDICT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Accredited Corporate Merchant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GREEN SHIELD (WCAG AA)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QR format parses correctly (R-01)</a:t>
            </a:r>
            <a:br/>
            <a:r>
              <a:t>• Zero external embedded links (R-02)</a:t>
            </a:r>
            <a:br/>
            <a:r>
              <a:t>• Account matches corporate registry (R-03)</a:t>
            </a:r>
            <a:br/>
            <a:r>
              <a:t>• Confirmed accredited business (R-04)</a:t>
            </a:r>
            <a:br/>
            <a:r>
              <a:t>• No prior community scam reports (R-05)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Action: 'Continue to Payment' (Confidence)</a:t>
            </a:r>
            <a:br/>
            <a:r>
              <a:t>Example: Cafe Manila Inc. (₱850.00)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371600"/>
            <a:ext cx="3328416" cy="48463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CAUTION VERDICT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Micro-Merchant / Sari-Sari Store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AMBER SHIELD (WCAG AA)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Solves Philippine Warning Fatigue!</a:t>
            </a:r>
            <a:br/>
            <a:r>
              <a:t>• 80%+ daily transactions are personal P2P</a:t>
            </a:r>
            <a:br/>
            <a:r>
              <a:t>• Valid format &amp; unflagged, but personal wallet</a:t>
            </a:r>
            <a:br/>
            <a:r>
              <a:t>• Does NOT block or terrify the buyer</a:t>
            </a:r>
            <a:br/>
            <a:r>
              <a:t>• Injects Actionable Verbal Prompt: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Verbal Check: "Kayo po ba si Ate Rose?"</a:t>
            </a:r>
            <a:br/>
            <a:r>
              <a:t>Example: Rosemarie Natividad (₱45.00)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371600"/>
            <a:ext cx="3328416" cy="48463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SUSPICIOUS VERDICT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Critical Security Risk Detected</a:t>
            </a:r>
          </a:p>
          <a:p>
            <a:pPr>
              <a:defRPr sz="950" b="1">
                <a:solidFill>
                  <a:srgbClr val="64748B"/>
                </a:solidFill>
              </a:defRPr>
            </a:pPr>
            <a:r>
              <a:t>RED SHIELD (WCAG AA)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Immediate trigger on high-severity risk</a:t>
            </a:r>
            <a:br/>
            <a:r>
              <a:t>• Embedded phishing link (R-02)</a:t>
            </a:r>
            <a:br/>
            <a:r>
              <a:t>• Merchant name mismatch / spoofing (R-03)</a:t>
            </a:r>
            <a:br/>
            <a:r>
              <a:t>• Community reported scam sticker (R-05)</a:t>
            </a:r>
            <a:br/>
            <a:r>
              <a:t>• Primary Action: 'Cancel Payment'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Safe Exit: 1-Tap Cancel (₱0 deducted)</a:t>
            </a:r>
            <a:br/>
            <a:r>
              <a:t>Override: Requires 2-step explicit modal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5CEE"/>
                </a:solidFill>
              </a:defRPr>
            </a:pPr>
            <a:r>
              <a:t>IT 021 - USABLE SECURITY | GROUP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Community Intelligence &amp; Anti-Coercion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100" b="1">
                <a:solidFill>
                  <a:srgbClr val="005CEE"/>
                </a:solidFill>
              </a:defRPr>
            </a:pPr>
            <a:r>
              <a:t>FRICTIONLESS REPORTING ENGINE (FR-13 to FR-15)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Solving DF-02 (Report Fatigue) &amp; DF-03 (Black Hole)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1. 4 Structured Predefined Reasons:</a:t>
            </a:r>
            <a:br/>
            <a:r>
              <a:t>   • Recipient name does not match merchant</a:t>
            </a:r>
            <a:br/>
            <a:r>
              <a:t>   • QR contains suspicious link / phishing URL</a:t>
            </a:r>
            <a:br/>
            <a:r>
              <a:t>   • Forced or pressured into paying</a:t>
            </a:r>
            <a:br/>
            <a:r>
              <a:t>   • Unrecognized recipient or business</a:t>
            </a:r>
            <a:br/>
            <a:br/>
            <a:r>
              <a:t>2. Instant Transparent Tracking:</a:t>
            </a:r>
            <a:br/>
            <a:r>
              <a:t>   • Generates distinct Reference ID (TT-2026-XXXXX)</a:t>
            </a:r>
            <a:br/>
            <a:r>
              <a:t>   • Activity tab tracks status: 'Under Review' → 'Resolved'</a:t>
            </a:r>
            <a:br/>
            <a:br/>
            <a:r>
              <a:t>3. Real-Time Community Defense:</a:t>
            </a:r>
            <a:br/>
            <a:r>
              <a:t>   • Submitting a report immediately blacklists the raw QR and accountId in the local threat store, shielding all future scans!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66360" cy="48463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SPECIAL DEFENSE: ANTI-COERCION PROTECTION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Duress MPIN &amp; Decoy Balance (Threat T-05)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The Coercion Reality:</a:t>
            </a:r>
            <a:br/>
            <a:r>
              <a:t>  In holdups or extortion, victims are forced to unlock their phones under direct threat of physical harm.</a:t>
            </a:r>
            <a:br/>
            <a:br/>
            <a:r>
              <a:t>• The Usable-Security Countermeasure:</a:t>
            </a:r>
            <a:br/>
            <a:r>
              <a:t>  - Normal Registered MPIN ('1234'):</a:t>
            </a:r>
            <a:br/>
            <a:r>
              <a:t>    Displays real wallet balance: ₱100,367.00</a:t>
            </a:r>
            <a:br/>
            <a:r>
              <a:t>  - Duress MPIN ('9999'):</a:t>
            </a:r>
            <a:br/>
            <a:r>
              <a:t>    Silently activates Decoy Mode displaying only ₱48.50!</a:t>
            </a:r>
            <a:br/>
            <a:br/>
            <a:r>
              <a:t>• Life-Safety Principle:</a:t>
            </a:r>
            <a:br/>
            <a:r>
              <a:t>  The app appears completely normal to satisfy attackers while safeguarding the user's life savings and flagging coercion.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5CEE"/>
                </a:solidFill>
              </a:defRPr>
            </a:pPr>
            <a:r>
              <a:t>IT 021 - USABLE SECURITY | GROUP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Architecture &amp; Empirical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TEST SUITE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29 / 29 PASSED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100% Pass Rate across Auth, Security, Rules, and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005CEE"/>
                </a:solidFill>
              </a:defRPr>
            </a:pPr>
            <a:r>
              <a:t>EXECUTION TIME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2.2 SECONDS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Satisfies NFR-01 (&lt; 3s total verification 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68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REACT NATIVE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Expo SDK 57, TypeScript, Zustand, Expo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468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STANDARDS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WCAG AA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Icon + Color + Plain English &amp; Tagalog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5CEE"/>
                </a:solidFill>
              </a:defRPr>
            </a:pPr>
            <a:r>
              <a:t>DESIGN FINDINGS RESOLUTION (TRACEABILITY MATRIX)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DF-01 (Users overlook suspicious recipient names): Resolved via mandatory pre-payment gate (FR-05) + explicit side-by-side merchant comparison cards (FR-08).</a:t>
            </a:r>
            <a:br/>
            <a:r>
              <a:t>• DF-02 (Reporting abandoned due to complex forms): Resolved via 4 single-tap categorized radio buttons + auto-populated QR payload details (FR-13).</a:t>
            </a:r>
            <a:br/>
            <a:r>
              <a:t>• DF-03 (Users don't know what happens after reporting): Resolved via unique tracking ID (TT-2026-XXXXX) and live Under Review / Resolved status in Activity tab (FR-14, FR-15).</a:t>
            </a:r>
            <a:br/>
            <a:r>
              <a:t>• Offline Capability &amp; Privacy (NFR-04, NFR-05): 100% self-contained prototype with zero mock PII, local storage persistence, and zero remote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USABLE SECURITY DEFENSE • CONCLUSION &amp; DEMO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Empowering Filipino E-Wallet Users with Usable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4114800"/>
          </a:xfrm>
          <a:prstGeom prst="roundRect">
            <a:avLst/>
          </a:prstGeom>
          <a:solidFill>
            <a:srgbClr val="0F1E32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LIVE DEMONSTRATION SCENARIOS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Running on Actual Tested Prototype:</a:t>
            </a:r>
            <a:br/>
            <a:br/>
            <a:r>
              <a:t>1. Scenario 1: Safe Merchant (Cafe Manila)</a:t>
            </a:r>
            <a:br/>
            <a:r>
              <a:t>   • Verifies accredited corporate registry → Green Shield</a:t>
            </a:r>
            <a:br/>
            <a:br/>
            <a:r>
              <a:t>2. Scenario 2: Micro-Merchant (Ate Rose Sari-Sari)</a:t>
            </a:r>
            <a:br/>
            <a:r>
              <a:t>   • Triggers Caution Tier with verbal prompt: "Kayo po ba si Ate Rose?"</a:t>
            </a:r>
            <a:br/>
            <a:br/>
            <a:r>
              <a:t>3. Scenario 3: Quishing Scam Sticker (MRT-3 Shaw)</a:t>
            </a:r>
            <a:br/>
            <a:r>
              <a:t>   • Blocks counterfeit QR → 1-Tap Cancel (₱0 lost) → 1-Tap Report</a:t>
            </a:r>
            <a:br/>
            <a:br/>
            <a:r>
              <a:t>4. Scenario 4: Duress MPIN ('9999')</a:t>
            </a:r>
            <a:br/>
            <a:r>
              <a:t>   • Unlocks Decoy Balance (₱48.50) under coercion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166360" cy="4114800"/>
          </a:xfrm>
          <a:prstGeom prst="roundRect">
            <a:avLst/>
          </a:prstGeom>
          <a:solidFill>
            <a:srgbClr val="0F1E32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CORE DEFENSE TAKEAWAY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"Security does not have to destroy convenience, and convenience must not compromise human safety."</a:t>
            </a:r>
            <a:br/>
            <a:br/>
            <a:r>
              <a:t>By embedding calibrated pre-payment checks, contextual verbal prompts, and frictionless community reporting, TapTignan transforms passive victims into protected, vigilant users.</a:t>
            </a:r>
            <a:br/>
            <a:br/>
            <a:r>
              <a:t>---------------------------------------------</a:t>
            </a:r>
            <a:br/>
            <a:r>
              <a:t>Maraming salamat po!</a:t>
            </a:r>
            <a:br/>
            <a:r>
              <a:t>We are now open for your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TapTignan Project • Group 7 • BSIT - IT31S4 • Technological Institute of the Philippines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